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6" r:id="rId4"/>
    <p:sldMasterId id="214748365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Roboto Mono"/>
      <p:regular r:id="rId23"/>
      <p:bold r:id="rId24"/>
      <p:italic r:id="rId25"/>
      <p:boldItalic r:id="rId26"/>
    </p:embeddedFont>
    <p:embeddedFont>
      <p:font typeface="Encode Sans Black"/>
      <p:bold r:id="rId27"/>
    </p:embeddedFont>
    <p:embeddedFont>
      <p:font typeface="Open Sans Light"/>
      <p:regular r:id="rId28"/>
      <p:bold r:id="rId29"/>
      <p:italic r:id="rId30"/>
      <p:boldItalic r:id="rId31"/>
    </p:embeddedFont>
    <p:embeddedFont>
      <p:font typeface="Open San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24">
          <p15:clr>
            <a:srgbClr val="A4A3A4"/>
          </p15:clr>
        </p15:guide>
        <p15:guide id="2" pos="48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24" orient="horz"/>
        <p:guide pos="48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RobotoMono-bold.fntdata"/><Relationship Id="rId23" Type="http://schemas.openxmlformats.org/officeDocument/2006/relationships/font" Target="fonts/RobotoMono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RobotoMono-boldItalic.fntdata"/><Relationship Id="rId25" Type="http://schemas.openxmlformats.org/officeDocument/2006/relationships/font" Target="fonts/RobotoMono-italic.fntdata"/><Relationship Id="rId28" Type="http://schemas.openxmlformats.org/officeDocument/2006/relationships/font" Target="fonts/OpenSansLight-regular.fntdata"/><Relationship Id="rId27" Type="http://schemas.openxmlformats.org/officeDocument/2006/relationships/font" Target="fonts/EncodeSansBlack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OpenSansLigh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Light-boldItalic.fntdata"/><Relationship Id="rId30" Type="http://schemas.openxmlformats.org/officeDocument/2006/relationships/font" Target="fonts/OpenSansLight-italic.fntdata"/><Relationship Id="rId11" Type="http://schemas.openxmlformats.org/officeDocument/2006/relationships/slide" Target="slides/slide5.xml"/><Relationship Id="rId33" Type="http://schemas.openxmlformats.org/officeDocument/2006/relationships/font" Target="fonts/OpenSans-bold.fntdata"/><Relationship Id="rId10" Type="http://schemas.openxmlformats.org/officeDocument/2006/relationships/slide" Target="slides/slide4.xml"/><Relationship Id="rId32" Type="http://schemas.openxmlformats.org/officeDocument/2006/relationships/font" Target="fonts/OpenSans-regular.fntdata"/><Relationship Id="rId13" Type="http://schemas.openxmlformats.org/officeDocument/2006/relationships/slide" Target="slides/slide7.xml"/><Relationship Id="rId35" Type="http://schemas.openxmlformats.org/officeDocument/2006/relationships/font" Target="fonts/OpenSans-boldItalic.fntdata"/><Relationship Id="rId12" Type="http://schemas.openxmlformats.org/officeDocument/2006/relationships/slide" Target="slides/slide6.xml"/><Relationship Id="rId34" Type="http://schemas.openxmlformats.org/officeDocument/2006/relationships/font" Target="fonts/OpenSans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7a3f772af_0_4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7a3f772af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fbd28808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g3cfbd28808f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84" name="Google Shape;84;p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7a3f772a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Operational Codes (opcodes): The bytes stored in memory that the computer actually runs.</a:t>
            </a:r>
            <a:endParaRPr/>
          </a:p>
        </p:txBody>
      </p:sp>
      <p:sp>
        <p:nvSpPr>
          <p:cNvPr id="94" name="Google Shape;94;g3d7a3f772af_0_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78eda61e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Byte Files</a:t>
            </a:r>
            <a:r>
              <a:rPr lang="en-US">
                <a:solidFill>
                  <a:schemeClr val="dk1"/>
                </a:solidFill>
              </a:rPr>
              <a:t>. are the </a:t>
            </a:r>
            <a:r>
              <a:rPr b="1" lang="en-US">
                <a:solidFill>
                  <a:schemeClr val="dk1"/>
                </a:solidFill>
              </a:rPr>
              <a:t>digital DNA</a:t>
            </a:r>
            <a:r>
              <a:rPr lang="en-US">
                <a:solidFill>
                  <a:schemeClr val="dk1"/>
                </a:solidFill>
              </a:rPr>
              <a:t> of the malware.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byte files provide a </a:t>
            </a:r>
            <a:r>
              <a:rPr b="1" lang="en-US">
                <a:solidFill>
                  <a:schemeClr val="dk1"/>
                </a:solidFill>
              </a:rPr>
              <a:t>complete raw signal</a:t>
            </a:r>
            <a:r>
              <a:rPr lang="en-US">
                <a:solidFill>
                  <a:schemeClr val="dk1"/>
                </a:solidFill>
              </a:rPr>
              <a:t>, capturing hidden data and resources that are essential for our high detection accuracy.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By analyzing raw hex patterns, our model identifies unique family signatures and able to detect hidden encryption.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4" name="Google Shape;104;g3d78eda61ec_0_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78eda61e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d78eda61ec_0_4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78eda61ec_0_6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d78eda61ec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predefined set of Gaussian noise standard deviations ($0$ to $5.0$) used to stress-test the model's stability.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Instead of exhaustive testing (Grid Search), we randomly sample 20 combinations (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n_iter=20</a:t>
            </a:r>
            <a:r>
              <a:rPr lang="en-US">
                <a:solidFill>
                  <a:schemeClr val="dk1"/>
                </a:solidFill>
              </a:rPr>
              <a:t>). This provides a significant speed advantage while often finding a near-optimal solution.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They penalize complex models, forcing XGBoost to prioritize the most impactful features and ignore the noise.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78eda61ec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8" name="Google Shape;148;g3d78eda61ec_0_9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78eda61ec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6" name="Google Shape;156;g3d78eda61ec_0_10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78eda61ec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4" name="Google Shape;164;g3d78eda61ec_0_1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7a6cb8554_1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3" name="Google Shape;173;g3d7a6cb8554_11_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d78eda61ec_0_3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d78eda61ec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e39be48da_0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ae39be48d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title"/>
          </p:nvPr>
        </p:nvSpPr>
        <p:spPr>
          <a:xfrm>
            <a:off x="671757" y="1169843"/>
            <a:ext cx="6972300" cy="19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4B2E83"/>
              </a:buClr>
              <a:buSzPts val="5000"/>
              <a:buFont typeface="Encode Sans Black"/>
              <a:buNone/>
              <a:defRPr b="1" i="0" sz="5000" u="none" cap="none" strike="noStrike">
                <a:solidFill>
                  <a:srgbClr val="4B2E83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2039" y="951985"/>
            <a:ext cx="1818972" cy="1225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39" y="3255935"/>
            <a:ext cx="1121587" cy="979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0" y="4282821"/>
            <a:ext cx="1028700" cy="692658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4B2E83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buNone/>
              <a:defRPr>
                <a:solidFill>
                  <a:srgbClr val="4B2E83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2pPr>
            <a:lvl3pPr lvl="2">
              <a:buNone/>
              <a:defRPr>
                <a:solidFill>
                  <a:srgbClr val="4B2E83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3pPr>
            <a:lvl4pPr lvl="3">
              <a:buNone/>
              <a:defRPr>
                <a:solidFill>
                  <a:srgbClr val="4B2E83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4pPr>
            <a:lvl5pPr lvl="4">
              <a:buNone/>
              <a:defRPr>
                <a:solidFill>
                  <a:srgbClr val="4B2E83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5pPr>
            <a:lvl6pPr lvl="5">
              <a:buNone/>
              <a:defRPr>
                <a:solidFill>
                  <a:srgbClr val="4B2E83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6pPr>
            <a:lvl7pPr lvl="6">
              <a:buNone/>
              <a:defRPr>
                <a:solidFill>
                  <a:srgbClr val="4B2E83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7pPr>
            <a:lvl8pPr lvl="7">
              <a:buNone/>
              <a:defRPr>
                <a:solidFill>
                  <a:srgbClr val="4B2E83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8pPr>
            <a:lvl9pPr lvl="8">
              <a:buNone/>
              <a:defRPr>
                <a:solidFill>
                  <a:srgbClr val="4B2E83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+ Content">
  <p:cSld name="Header + Conten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671757" y="278633"/>
            <a:ext cx="80646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  <a:defRPr b="1" i="0" sz="3000" u="none" cap="none" strike="noStrike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pic>
        <p:nvPicPr>
          <p:cNvPr id="16" name="Google Shape;16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9464" y="1038693"/>
            <a:ext cx="592169" cy="51697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 txBox="1"/>
          <p:nvPr>
            <p:ph idx="1" type="body"/>
          </p:nvPr>
        </p:nvSpPr>
        <p:spPr>
          <a:xfrm>
            <a:off x="659305" y="1302544"/>
            <a:ext cx="8076900" cy="30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rgbClr val="4B2E83"/>
              </a:buClr>
              <a:buSzPts val="2400"/>
              <a:buFont typeface="Merriweather Sans"/>
              <a:buChar char="&gt;"/>
              <a:defRPr b="0" i="0" sz="2400" u="none" cap="none" strike="noStrike"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rgbClr val="4B2E83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rgbClr val="4B2E83"/>
              </a:buClr>
              <a:buSzPts val="1800"/>
              <a:buFont typeface="Merriweather Sans"/>
              <a:buChar char="&gt;"/>
              <a:defRPr b="0" i="0" sz="1800" u="none" cap="none" strike="noStrike"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rgbClr val="4B2E83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spcBef>
                <a:spcPts val="280"/>
              </a:spcBef>
              <a:spcAft>
                <a:spcPts val="0"/>
              </a:spcAft>
              <a:buClr>
                <a:srgbClr val="4B2E83"/>
              </a:buClr>
              <a:buSzPts val="1400"/>
              <a:buFont typeface="Merriweather Sans"/>
              <a:buChar char="&gt;"/>
              <a:defRPr b="0" i="0" sz="1400" u="none" cap="none" strike="noStrike"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8" name="Google Shape;1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4282821"/>
            <a:ext cx="1028700" cy="692658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buNone/>
              <a:defRPr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buNone/>
              <a:defRPr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buNone/>
              <a:defRPr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buNone/>
              <a:defRPr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buNone/>
              <a:defRPr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buNone/>
              <a:defRPr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buNone/>
              <a:defRPr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buNone/>
              <a:defRPr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+ SubHeader + Content">
  <p:cSld name="Header + SubHeader + Conten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628649" y="278632"/>
            <a:ext cx="82278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4B2E83"/>
              </a:buClr>
              <a:buSzPts val="3000"/>
              <a:buFont typeface="Encode Sans Black"/>
              <a:buNone/>
              <a:defRPr b="1" i="0" sz="3000" u="none" cap="none" strike="noStrike">
                <a:solidFill>
                  <a:srgbClr val="4B2E83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pic>
        <p:nvPicPr>
          <p:cNvPr id="22" name="Google Shape;22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9464" y="1038693"/>
            <a:ext cx="592169" cy="51697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 txBox="1"/>
          <p:nvPr>
            <p:ph idx="1" type="body"/>
          </p:nvPr>
        </p:nvSpPr>
        <p:spPr>
          <a:xfrm>
            <a:off x="671757" y="1298000"/>
            <a:ext cx="81846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4B2E83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4B2E8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560"/>
              </a:spcBef>
              <a:spcAft>
                <a:spcPts val="0"/>
              </a:spcAft>
              <a:buClr>
                <a:srgbClr val="E8D3A2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2pPr>
            <a:lvl3pPr indent="-2286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E8D3A2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3pPr>
            <a:lvl4pPr indent="-2286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E8D3A2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4pPr>
            <a:lvl5pPr indent="-2286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E8D3A2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2" type="body"/>
          </p:nvPr>
        </p:nvSpPr>
        <p:spPr>
          <a:xfrm>
            <a:off x="659305" y="1740179"/>
            <a:ext cx="81972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rgbClr val="4B2E83"/>
              </a:buClr>
              <a:buSzPts val="2400"/>
              <a:buFont typeface="Merriweather Sans"/>
              <a:buChar char="&gt;"/>
              <a:defRPr b="0" i="0" sz="2400" u="none" cap="none" strike="noStrike"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rgbClr val="4B2E83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rgbClr val="4B2E83"/>
              </a:buClr>
              <a:buSzPts val="1800"/>
              <a:buFont typeface="Merriweather Sans"/>
              <a:buChar char="&gt;"/>
              <a:defRPr b="0" i="0" sz="1800" u="none" cap="none" strike="noStrike"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rgbClr val="4B2E83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spcBef>
                <a:spcPts val="280"/>
              </a:spcBef>
              <a:spcAft>
                <a:spcPts val="0"/>
              </a:spcAft>
              <a:buClr>
                <a:srgbClr val="4B2E83"/>
              </a:buClr>
              <a:buSzPts val="1400"/>
              <a:buFont typeface="Merriweather Sans"/>
              <a:buChar char="&gt;"/>
              <a:defRPr b="0" i="0" sz="1400" u="none" cap="none" strike="noStrike"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25" name="Google Shape;2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4282821"/>
            <a:ext cx="1028700" cy="692658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4B2E83"/>
                </a:solidFill>
              </a:defRPr>
            </a:lvl1pPr>
            <a:lvl2pPr lvl="1">
              <a:buNone/>
              <a:defRPr>
                <a:solidFill>
                  <a:srgbClr val="4B2E83"/>
                </a:solidFill>
              </a:defRPr>
            </a:lvl2pPr>
            <a:lvl3pPr lvl="2">
              <a:buNone/>
              <a:defRPr>
                <a:solidFill>
                  <a:srgbClr val="4B2E83"/>
                </a:solidFill>
              </a:defRPr>
            </a:lvl3pPr>
            <a:lvl4pPr lvl="3">
              <a:buNone/>
              <a:defRPr>
                <a:solidFill>
                  <a:srgbClr val="4B2E83"/>
                </a:solidFill>
              </a:defRPr>
            </a:lvl4pPr>
            <a:lvl5pPr lvl="4">
              <a:buNone/>
              <a:defRPr>
                <a:solidFill>
                  <a:srgbClr val="4B2E83"/>
                </a:solidFill>
              </a:defRPr>
            </a:lvl5pPr>
            <a:lvl6pPr lvl="5">
              <a:buNone/>
              <a:defRPr>
                <a:solidFill>
                  <a:srgbClr val="4B2E83"/>
                </a:solidFill>
              </a:defRPr>
            </a:lvl6pPr>
            <a:lvl7pPr lvl="6">
              <a:buNone/>
              <a:defRPr>
                <a:solidFill>
                  <a:srgbClr val="4B2E83"/>
                </a:solidFill>
              </a:defRPr>
            </a:lvl7pPr>
            <a:lvl8pPr lvl="7">
              <a:buNone/>
              <a:defRPr>
                <a:solidFill>
                  <a:srgbClr val="4B2E83"/>
                </a:solidFill>
              </a:defRPr>
            </a:lvl8pPr>
            <a:lvl9pPr lvl="8">
              <a:buNone/>
              <a:defRPr>
                <a:solidFill>
                  <a:srgbClr val="4B2E8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+ Graphic">
  <p:cSld name="Header + Graphic">
    <p:bg>
      <p:bgPr>
        <a:solidFill>
          <a:srgbClr val="E8D3A2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671756" y="273844"/>
            <a:ext cx="8116500" cy="74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  <a:defRPr b="1" i="0" sz="3000" u="none" cap="none" strike="noStrike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pic>
        <p:nvPicPr>
          <p:cNvPr id="29" name="Google Shape;29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9464" y="1038693"/>
            <a:ext cx="592169" cy="51697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5"/>
          <p:cNvSpPr/>
          <p:nvPr>
            <p:ph idx="2" type="chart"/>
          </p:nvPr>
        </p:nvSpPr>
        <p:spPr>
          <a:xfrm>
            <a:off x="766763" y="1302544"/>
            <a:ext cx="8021700" cy="33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480"/>
              </a:spcBef>
              <a:spcAft>
                <a:spcPts val="0"/>
              </a:spcAft>
              <a:buClr>
                <a:srgbClr val="4B2E83"/>
              </a:buClr>
              <a:buSzPts val="2400"/>
              <a:buFont typeface="Arial"/>
              <a:buNone/>
              <a:defRPr b="0" i="1" sz="2400" u="none" cap="none" strike="noStrike">
                <a:solidFill>
                  <a:srgbClr val="4B2E83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31" name="Google Shape;3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4282821"/>
            <a:ext cx="1028700" cy="692658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buNone/>
              <a:defRPr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2pPr>
            <a:lvl3pPr lvl="2">
              <a:buNone/>
              <a:defRPr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3pPr>
            <a:lvl4pPr lvl="3">
              <a:buNone/>
              <a:defRPr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4pPr>
            <a:lvl5pPr lvl="4">
              <a:buNone/>
              <a:defRPr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5pPr>
            <a:lvl6pPr lvl="5">
              <a:buNone/>
              <a:defRPr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6pPr>
            <a:lvl7pPr lvl="6">
              <a:buNone/>
              <a:defRPr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7pPr>
            <a:lvl8pPr lvl="7">
              <a:buNone/>
              <a:defRPr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8pPr>
            <a:lvl9pPr lvl="8">
              <a:buNone/>
              <a:defRPr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+ Subheader + Content">
  <p:cSld name="Header + Subheader + Conte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671756" y="273844"/>
            <a:ext cx="8184600" cy="74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4B2E83"/>
              </a:buClr>
              <a:buSzPts val="3000"/>
              <a:buFont typeface="Encode Sans Black"/>
              <a:buNone/>
              <a:defRPr b="1" i="0" sz="3000" u="none" cap="none" strike="noStrike">
                <a:solidFill>
                  <a:srgbClr val="4B2E83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pic>
        <p:nvPicPr>
          <p:cNvPr id="38" name="Google Shape;38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4700" y="1038023"/>
            <a:ext cx="592169" cy="51697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7"/>
          <p:cNvSpPr txBox="1"/>
          <p:nvPr>
            <p:ph idx="1" type="body"/>
          </p:nvPr>
        </p:nvSpPr>
        <p:spPr>
          <a:xfrm>
            <a:off x="671757" y="1298000"/>
            <a:ext cx="81846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4B2E83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4B2E8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560"/>
              </a:spcBef>
              <a:spcAft>
                <a:spcPts val="0"/>
              </a:spcAft>
              <a:buClr>
                <a:srgbClr val="E8D3A2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2pPr>
            <a:lvl3pPr indent="-2286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E8D3A2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3pPr>
            <a:lvl4pPr indent="-2286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E8D3A2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4pPr>
            <a:lvl5pPr indent="-2286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E8D3A2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2" type="body"/>
          </p:nvPr>
        </p:nvSpPr>
        <p:spPr>
          <a:xfrm>
            <a:off x="659305" y="1740180"/>
            <a:ext cx="8197200" cy="23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rgbClr val="4B2E83"/>
              </a:buClr>
              <a:buSzPts val="2400"/>
              <a:buFont typeface="Merriweather Sans"/>
              <a:buChar char="&gt;"/>
              <a:defRPr b="1" i="0" sz="2400" u="none" cap="none" strike="noStrike"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rgbClr val="4B2E83"/>
              </a:buClr>
              <a:buSzPts val="2000"/>
              <a:buFont typeface="Arial"/>
              <a:buChar char="–"/>
              <a:defRPr b="1" i="0" sz="2000" u="none" cap="none" strike="noStrike"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rgbClr val="4B2E83"/>
              </a:buClr>
              <a:buSzPts val="1800"/>
              <a:buFont typeface="Merriweather Sans"/>
              <a:buChar char="&gt;"/>
              <a:defRPr b="1" i="0" sz="1800" u="none" cap="none" strike="noStrike"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rgbClr val="4B2E83"/>
              </a:buClr>
              <a:buSzPts val="1600"/>
              <a:buFont typeface="Arial"/>
              <a:buChar char="–"/>
              <a:defRPr b="1" i="0" sz="1600" u="none" cap="none" strike="noStrike"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spcBef>
                <a:spcPts val="280"/>
              </a:spcBef>
              <a:spcAft>
                <a:spcPts val="0"/>
              </a:spcAft>
              <a:buClr>
                <a:srgbClr val="4B2E83"/>
              </a:buClr>
              <a:buSzPts val="1400"/>
              <a:buFont typeface="Merriweather Sans"/>
              <a:buChar char="&gt;"/>
              <a:defRPr b="1" i="0" sz="1400" u="none" cap="none" strike="noStrike"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41" name="Google Shape;4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4282821"/>
            <a:ext cx="1028700" cy="69265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4B2E83"/>
                </a:solidFill>
              </a:defRPr>
            </a:lvl1pPr>
            <a:lvl2pPr lvl="1">
              <a:buNone/>
              <a:defRPr>
                <a:solidFill>
                  <a:srgbClr val="4B2E83"/>
                </a:solidFill>
              </a:defRPr>
            </a:lvl2pPr>
            <a:lvl3pPr lvl="2">
              <a:buNone/>
              <a:defRPr>
                <a:solidFill>
                  <a:srgbClr val="4B2E83"/>
                </a:solidFill>
              </a:defRPr>
            </a:lvl3pPr>
            <a:lvl4pPr lvl="3">
              <a:buNone/>
              <a:defRPr>
                <a:solidFill>
                  <a:srgbClr val="4B2E83"/>
                </a:solidFill>
              </a:defRPr>
            </a:lvl4pPr>
            <a:lvl5pPr lvl="4">
              <a:buNone/>
              <a:defRPr>
                <a:solidFill>
                  <a:srgbClr val="4B2E83"/>
                </a:solidFill>
              </a:defRPr>
            </a:lvl5pPr>
            <a:lvl6pPr lvl="5">
              <a:buNone/>
              <a:defRPr>
                <a:solidFill>
                  <a:srgbClr val="4B2E83"/>
                </a:solidFill>
              </a:defRPr>
            </a:lvl6pPr>
            <a:lvl7pPr lvl="6">
              <a:buNone/>
              <a:defRPr>
                <a:solidFill>
                  <a:srgbClr val="4B2E83"/>
                </a:solidFill>
              </a:defRPr>
            </a:lvl7pPr>
            <a:lvl8pPr lvl="7">
              <a:buNone/>
              <a:defRPr>
                <a:solidFill>
                  <a:srgbClr val="4B2E83"/>
                </a:solidFill>
              </a:defRPr>
            </a:lvl8pPr>
            <a:lvl9pPr lvl="8">
              <a:buNone/>
              <a:defRPr>
                <a:solidFill>
                  <a:srgbClr val="4B2E8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/>
          <p:nvPr>
            <p:ph type="title"/>
          </p:nvPr>
        </p:nvSpPr>
        <p:spPr>
          <a:xfrm>
            <a:off x="671757" y="1148954"/>
            <a:ext cx="69723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4B2E83"/>
              </a:buClr>
              <a:buSzPts val="5000"/>
              <a:buFont typeface="Encode Sans Black"/>
              <a:buNone/>
              <a:defRPr b="1" i="0" sz="5000" u="none" cap="none" strike="noStrike">
                <a:solidFill>
                  <a:srgbClr val="4B2E83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pic>
        <p:nvPicPr>
          <p:cNvPr id="45" name="Google Shape;4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2039" y="951985"/>
            <a:ext cx="1818972" cy="12253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9463" y="3130271"/>
            <a:ext cx="1200151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0" y="4282821"/>
            <a:ext cx="1028700" cy="692658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4B2E83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buNone/>
              <a:defRPr>
                <a:solidFill>
                  <a:srgbClr val="4B2E83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2pPr>
            <a:lvl3pPr lvl="2">
              <a:buNone/>
              <a:defRPr>
                <a:solidFill>
                  <a:srgbClr val="4B2E83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3pPr>
            <a:lvl4pPr lvl="3">
              <a:buNone/>
              <a:defRPr>
                <a:solidFill>
                  <a:srgbClr val="4B2E83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4pPr>
            <a:lvl5pPr lvl="4">
              <a:buNone/>
              <a:defRPr>
                <a:solidFill>
                  <a:srgbClr val="4B2E83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5pPr>
            <a:lvl6pPr lvl="5">
              <a:buNone/>
              <a:defRPr>
                <a:solidFill>
                  <a:srgbClr val="4B2E83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6pPr>
            <a:lvl7pPr lvl="6">
              <a:buNone/>
              <a:defRPr>
                <a:solidFill>
                  <a:srgbClr val="4B2E83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7pPr>
            <a:lvl8pPr lvl="7">
              <a:buNone/>
              <a:defRPr>
                <a:solidFill>
                  <a:srgbClr val="4B2E83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8pPr>
            <a:lvl9pPr lvl="8">
              <a:buNone/>
              <a:defRPr>
                <a:solidFill>
                  <a:srgbClr val="4B2E83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+ Content">
  <p:cSld name="Header + Conten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659305" y="278633"/>
            <a:ext cx="81963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  <a:defRPr b="1" i="0" sz="3000" u="none" cap="none" strike="noStrike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pic>
        <p:nvPicPr>
          <p:cNvPr id="51" name="Google Shape;51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4700" y="1038023"/>
            <a:ext cx="592169" cy="51697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9"/>
          <p:cNvSpPr txBox="1"/>
          <p:nvPr>
            <p:ph idx="1" type="body"/>
          </p:nvPr>
        </p:nvSpPr>
        <p:spPr>
          <a:xfrm>
            <a:off x="659305" y="1302545"/>
            <a:ext cx="8196300" cy="27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rgbClr val="4B2E83"/>
              </a:buClr>
              <a:buSzPts val="2400"/>
              <a:buFont typeface="Merriweather Sans"/>
              <a:buChar char="&gt;"/>
              <a:defRPr b="1" i="0" sz="2400" u="none" cap="none" strike="noStrike"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rgbClr val="4B2E83"/>
              </a:buClr>
              <a:buSzPts val="2000"/>
              <a:buFont typeface="Arial"/>
              <a:buChar char="–"/>
              <a:defRPr b="1" i="0" sz="2000" u="none" cap="none" strike="noStrike"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rgbClr val="4B2E83"/>
              </a:buClr>
              <a:buSzPts val="1800"/>
              <a:buFont typeface="Merriweather Sans"/>
              <a:buChar char="&gt;"/>
              <a:defRPr b="1" i="0" sz="1800" u="none" cap="none" strike="noStrike"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rgbClr val="4B2E83"/>
              </a:buClr>
              <a:buSzPts val="1600"/>
              <a:buFont typeface="Arial"/>
              <a:buChar char="–"/>
              <a:defRPr b="1" i="0" sz="1600" u="none" cap="none" strike="noStrike"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spcBef>
                <a:spcPts val="280"/>
              </a:spcBef>
              <a:spcAft>
                <a:spcPts val="0"/>
              </a:spcAft>
              <a:buClr>
                <a:srgbClr val="4B2E83"/>
              </a:buClr>
              <a:buSzPts val="1400"/>
              <a:buFont typeface="Merriweather Sans"/>
              <a:buChar char="&gt;"/>
              <a:defRPr b="1" i="0" sz="1400" u="none" cap="none" strike="noStrike"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53" name="Google Shape;5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4282821"/>
            <a:ext cx="1028700" cy="69265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buNone/>
              <a:defRPr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buNone/>
              <a:defRPr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buNone/>
              <a:defRPr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buNone/>
              <a:defRPr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buNone/>
              <a:defRPr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buNone/>
              <a:defRPr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buNone/>
              <a:defRPr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buNone/>
              <a:defRPr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+ Graphic">
  <p:cSld name="Header + Graphic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type="title"/>
          </p:nvPr>
        </p:nvSpPr>
        <p:spPr>
          <a:xfrm>
            <a:off x="671756" y="278633"/>
            <a:ext cx="81165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  <a:defRPr b="1" i="0" sz="3000" u="none" cap="none" strike="noStrike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pic>
        <p:nvPicPr>
          <p:cNvPr id="57" name="Google Shape;57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4700" y="1038023"/>
            <a:ext cx="592169" cy="51697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0"/>
          <p:cNvSpPr/>
          <p:nvPr>
            <p:ph idx="2" type="chart"/>
          </p:nvPr>
        </p:nvSpPr>
        <p:spPr>
          <a:xfrm>
            <a:off x="766763" y="1302544"/>
            <a:ext cx="8021700" cy="27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480"/>
              </a:spcBef>
              <a:spcAft>
                <a:spcPts val="0"/>
              </a:spcAft>
              <a:buClr>
                <a:srgbClr val="4B2E83"/>
              </a:buClr>
              <a:buSzPts val="2400"/>
              <a:buFont typeface="Arial"/>
              <a:buNone/>
              <a:defRPr b="0" i="1" sz="2400" u="none" cap="none" strike="noStrike">
                <a:solidFill>
                  <a:srgbClr val="4B2E83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59" name="Google Shape;5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4282821"/>
            <a:ext cx="1028700" cy="69265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buNone/>
              <a:defRPr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2pPr>
            <a:lvl3pPr lvl="2">
              <a:buNone/>
              <a:defRPr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3pPr>
            <a:lvl4pPr lvl="3">
              <a:buNone/>
              <a:defRPr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4pPr>
            <a:lvl5pPr lvl="4">
              <a:buNone/>
              <a:defRPr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5pPr>
            <a:lvl6pPr lvl="5">
              <a:buNone/>
              <a:defRPr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6pPr>
            <a:lvl7pPr lvl="6">
              <a:buNone/>
              <a:defRPr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7pPr>
            <a:lvl8pPr lvl="7">
              <a:buNone/>
              <a:defRPr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8pPr>
            <a:lvl9pPr lvl="8">
              <a:buNone/>
              <a:defRPr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ainAngle-7502.png" id="6" name="Google Shape;6;p1"/>
          <p:cNvPicPr preferRelativeResize="0"/>
          <p:nvPr/>
        </p:nvPicPr>
        <p:blipFill rotWithShape="1">
          <a:blip r:embed="rId1">
            <a:alphaModFix/>
          </a:blip>
          <a:srcRect b="88695" l="22002" r="21821" t="9712"/>
          <a:stretch/>
        </p:blipFill>
        <p:spPr>
          <a:xfrm>
            <a:off x="0" y="0"/>
            <a:ext cx="9144002" cy="14882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ainAngle-7502.png" id="34" name="Google Shape;34;p6"/>
          <p:cNvPicPr preferRelativeResize="0"/>
          <p:nvPr/>
        </p:nvPicPr>
        <p:blipFill rotWithShape="1">
          <a:blip r:embed="rId1">
            <a:alphaModFix/>
          </a:blip>
          <a:srcRect b="88695" l="22002" r="21821" t="9712"/>
          <a:stretch/>
        </p:blipFill>
        <p:spPr>
          <a:xfrm>
            <a:off x="0" y="0"/>
            <a:ext cx="9144002" cy="148828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2"/>
    <p:sldLayoutId id="2147483653" r:id="rId3"/>
    <p:sldLayoutId id="2147483654" r:id="rId4"/>
    <p:sldLayoutId id="2147483655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5.png"/><Relationship Id="rId5" Type="http://schemas.openxmlformats.org/officeDocument/2006/relationships/hyperlink" Target="https://www.kaggle.com/competitions/malware-classification/overview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Relationship Id="rId4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2.png"/><Relationship Id="rId5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type="title"/>
          </p:nvPr>
        </p:nvSpPr>
        <p:spPr>
          <a:xfrm>
            <a:off x="132150" y="1148963"/>
            <a:ext cx="8879700" cy="19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B2E83"/>
              </a:buClr>
              <a:buSzPts val="5000"/>
              <a:buFont typeface="Encode Sans Black"/>
              <a:buNone/>
            </a:pPr>
            <a:r>
              <a:rPr lang="en-US" sz="3000"/>
              <a:t>EE P 567 A WI 26: Machine Learning For Cybersecurity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B2E83"/>
              </a:buClr>
              <a:buSzPts val="5000"/>
              <a:buFont typeface="Encode Sans Black"/>
              <a:buNone/>
            </a:pPr>
            <a:r>
              <a:t/>
            </a:r>
            <a:endParaRPr sz="3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B2E83"/>
              </a:buClr>
              <a:buSzPts val="5000"/>
              <a:buFont typeface="Encode Sans Black"/>
              <a:buNone/>
            </a:pPr>
            <a:r>
              <a:rPr lang="en-US" sz="3000"/>
              <a:t>Malware Detection with PE File Analysis</a:t>
            </a:r>
            <a:endParaRPr sz="3000"/>
          </a:p>
        </p:txBody>
      </p:sp>
      <p:sp>
        <p:nvSpPr>
          <p:cNvPr id="66" name="Google Shape;66;p11"/>
          <p:cNvSpPr txBox="1"/>
          <p:nvPr/>
        </p:nvSpPr>
        <p:spPr>
          <a:xfrm>
            <a:off x="582460" y="4053736"/>
            <a:ext cx="67506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2E83"/>
              </a:buClr>
              <a:buSzPts val="2000"/>
              <a:buFont typeface="Encode Sans Black"/>
              <a:buNone/>
            </a:pPr>
            <a:r>
              <a:rPr b="1" lang="en-US" sz="2000">
                <a:solidFill>
                  <a:srgbClr val="4B2E83"/>
                </a:solidFill>
                <a:latin typeface="Encode Sans Black"/>
                <a:ea typeface="Encode Sans Black"/>
                <a:cs typeface="Encode Sans Black"/>
                <a:sym typeface="Encode Sans Black"/>
              </a:rPr>
              <a:t>Sung-Po Chang, Mike Huang,</a:t>
            </a:r>
            <a:r>
              <a:rPr b="1" i="0" lang="en-US" sz="2000" u="none" cap="none" strike="noStrike">
                <a:solidFill>
                  <a:srgbClr val="4B2E83"/>
                </a:solidFill>
                <a:latin typeface="Encode Sans Black"/>
                <a:ea typeface="Encode Sans Black"/>
                <a:cs typeface="Encode Sans Black"/>
                <a:sym typeface="Encode Sans Black"/>
              </a:rPr>
              <a:t> Bryan Gonzalez</a:t>
            </a:r>
            <a:endParaRPr b="1" sz="2000">
              <a:solidFill>
                <a:srgbClr val="4B2E83"/>
              </a:solidFill>
              <a:latin typeface="Encode Sans Black"/>
              <a:ea typeface="Encode Sans Black"/>
              <a:cs typeface="Encode Sans Black"/>
              <a:sym typeface="Encode Sans Black"/>
            </a:endParaRPr>
          </a:p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2"/>
          <p:cNvSpPr txBox="1"/>
          <p:nvPr>
            <p:ph type="title"/>
          </p:nvPr>
        </p:nvSpPr>
        <p:spPr>
          <a:xfrm>
            <a:off x="671757" y="278633"/>
            <a:ext cx="8064600" cy="744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73" name="Google Shape;73;p12"/>
          <p:cNvSpPr txBox="1"/>
          <p:nvPr>
            <p:ph idx="1" type="body"/>
          </p:nvPr>
        </p:nvSpPr>
        <p:spPr>
          <a:xfrm>
            <a:off x="233450" y="1238400"/>
            <a:ext cx="8632500" cy="3743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Problem Overview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Data Overview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Feature Extraction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Model Implementation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Experiment Results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Conclusion</a:t>
            </a:r>
            <a:endParaRPr sz="2200"/>
          </a:p>
          <a:p>
            <a:pPr indent="0" lvl="0" marL="9144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74" name="Google Shape;74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>
            <a:off x="671757" y="278633"/>
            <a:ext cx="80646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</a:pPr>
            <a:r>
              <a:rPr lang="en-US"/>
              <a:t>Problem Overview</a:t>
            </a:r>
            <a:r>
              <a:rPr lang="en-US"/>
              <a:t> </a:t>
            </a:r>
            <a:endParaRPr/>
          </a:p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>
            <a:off x="659305" y="1302544"/>
            <a:ext cx="8076900" cy="30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US" sz="1600">
                <a:solidFill>
                  <a:schemeClr val="dk1"/>
                </a:solidFill>
              </a:rPr>
              <a:t>Goal: </a:t>
            </a:r>
            <a:r>
              <a:rPr lang="en-US" sz="1600">
                <a:solidFill>
                  <a:schemeClr val="dk1"/>
                </a:solidFill>
              </a:rPr>
              <a:t>building a machine learning pipeline to automatically classify 9 different malware families using a massive 500GB m</a:t>
            </a:r>
            <a:r>
              <a:rPr lang="en-US" sz="1600">
                <a:solidFill>
                  <a:schemeClr val="dk1"/>
                </a:solidFill>
              </a:rPr>
              <a:t>alware classification </a:t>
            </a:r>
            <a:r>
              <a:rPr lang="en-US" sz="1600">
                <a:solidFill>
                  <a:schemeClr val="dk1"/>
                </a:solidFill>
              </a:rPr>
              <a:t>dataset 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b="1" lang="en-US" sz="1600">
                <a:solidFill>
                  <a:schemeClr val="dk1"/>
                </a:solidFill>
              </a:rPr>
              <a:t>Challenges</a:t>
            </a:r>
            <a:endParaRPr b="1" sz="16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-US" sz="1400">
                <a:solidFill>
                  <a:schemeClr val="dk1"/>
                </a:solidFill>
              </a:rPr>
              <a:t>Feature representation:</a:t>
            </a:r>
            <a:r>
              <a:rPr lang="en-US" sz="1400">
                <a:solidFill>
                  <a:schemeClr val="dk1"/>
                </a:solidFill>
              </a:rPr>
              <a:t> Malware samples are raw and messy. We must transform bytes and .asm files into behavioral numerical features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-US" sz="1400">
                <a:solidFill>
                  <a:schemeClr val="dk1"/>
                </a:solidFill>
              </a:rPr>
              <a:t>Data is too big:</a:t>
            </a:r>
            <a:r>
              <a:rPr lang="en-US" sz="1400">
                <a:solidFill>
                  <a:schemeClr val="dk1"/>
                </a:solidFill>
              </a:rPr>
              <a:t> 500GB of raw data is impossible to analyze manually. We need a scalable, automated way to extract features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-US" sz="1400">
                <a:solidFill>
                  <a:schemeClr val="dk1"/>
                </a:solidFill>
              </a:rPr>
              <a:t>Class Imbalance:</a:t>
            </a:r>
            <a:r>
              <a:rPr lang="en-US" sz="1400">
                <a:solidFill>
                  <a:schemeClr val="dk1"/>
                </a:solidFill>
              </a:rPr>
              <a:t> Some malware families are rare while others are common. Our model must learn to identify the rare ones without being biased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</p:txBody>
      </p:sp>
      <p:sp>
        <p:nvSpPr>
          <p:cNvPr id="81" name="Google Shape;81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/>
          <p:nvPr>
            <p:ph type="title"/>
          </p:nvPr>
        </p:nvSpPr>
        <p:spPr>
          <a:xfrm>
            <a:off x="671757" y="278633"/>
            <a:ext cx="80646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</a:pPr>
            <a:r>
              <a:rPr lang="en-US"/>
              <a:t>Data Overview</a:t>
            </a:r>
            <a:endParaRPr/>
          </a:p>
        </p:txBody>
      </p:sp>
      <p:sp>
        <p:nvSpPr>
          <p:cNvPr id="87" name="Google Shape;87;p14"/>
          <p:cNvSpPr txBox="1"/>
          <p:nvPr/>
        </p:nvSpPr>
        <p:spPr>
          <a:xfrm>
            <a:off x="257150" y="1022625"/>
            <a:ext cx="76758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B2E8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rriweather Sans"/>
              <a:buChar char="●"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Source: Microsoft Malware Classification Challenge (BIG 2015)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rriweather Sans"/>
              <a:buChar char="●"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Size: 500GB in total, training set ~200GB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rriweather Sans"/>
              <a:buChar char="●"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Unbalanced dataset</a:t>
            </a:r>
            <a:endParaRPr sz="1600">
              <a:solidFill>
                <a:srgbClr val="4B2E8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88" name="Google Shape;88;p14" title="distribution__malware_class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1075" y="2309085"/>
            <a:ext cx="3904325" cy="2342589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0" name="Google Shape;9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7150" y="2683425"/>
            <a:ext cx="4692249" cy="196825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4027700" y="4721700"/>
            <a:ext cx="3816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u="sng">
                <a:hlinkClick r:id="rId5"/>
              </a:rPr>
              <a:t>https://www.kaggle.com/competitions/malware-classification/overview</a:t>
            </a:r>
            <a:endParaRPr sz="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671757" y="278633"/>
            <a:ext cx="80646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</a:pPr>
            <a:r>
              <a:rPr lang="en-US"/>
              <a:t>Data Overview: ASM Files</a:t>
            </a:r>
            <a:endParaRPr/>
          </a:p>
        </p:txBody>
      </p:sp>
      <p:pic>
        <p:nvPicPr>
          <p:cNvPr id="97" name="Google Shape;9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6950" y="211263"/>
            <a:ext cx="3288515" cy="18754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5"/>
          <p:cNvSpPr txBox="1"/>
          <p:nvPr/>
        </p:nvSpPr>
        <p:spPr>
          <a:xfrm>
            <a:off x="257150" y="1022625"/>
            <a:ext cx="5181000" cy="43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rPr>
              <a:t>Total 10868 Files</a:t>
            </a:r>
            <a:endParaRPr sz="1600">
              <a:solidFill>
                <a:srgbClr val="4B2E8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B2E8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4B2E83"/>
              </a:buClr>
              <a:buSzPts val="1600"/>
              <a:buFont typeface="Open Sans"/>
              <a:buChar char="●"/>
            </a:pPr>
            <a:r>
              <a:rPr lang="en-US" sz="1600"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rPr>
              <a:t>Contains</a:t>
            </a:r>
            <a:endParaRPr sz="1600">
              <a:solidFill>
                <a:srgbClr val="4B2E8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Clr>
                <a:srgbClr val="4B2E83"/>
              </a:buClr>
              <a:buSzPts val="1600"/>
              <a:buFont typeface="Open Sans"/>
              <a:buAutoNum type="arabicPeriod"/>
            </a:pPr>
            <a:r>
              <a:rPr lang="en-US" sz="1600"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rPr>
              <a:t>Address</a:t>
            </a:r>
            <a:endParaRPr sz="1600">
              <a:solidFill>
                <a:srgbClr val="4B2E8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Clr>
                <a:srgbClr val="4B2E83"/>
              </a:buClr>
              <a:buSzPts val="1600"/>
              <a:buFont typeface="Open Sans"/>
              <a:buAutoNum type="arabicPeriod"/>
            </a:pPr>
            <a:r>
              <a:rPr lang="en-US" sz="1600"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rPr>
              <a:t>Segments</a:t>
            </a:r>
            <a:endParaRPr sz="1600">
              <a:solidFill>
                <a:srgbClr val="4B2E8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Clr>
                <a:srgbClr val="4B2E83"/>
              </a:buClr>
              <a:buSzPts val="1600"/>
              <a:buFont typeface="Open Sans"/>
              <a:buAutoNum type="arabicPeriod"/>
            </a:pPr>
            <a:r>
              <a:rPr lang="en-US" sz="1600"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rPr>
              <a:t>Opcodes</a:t>
            </a:r>
            <a:endParaRPr sz="1600">
              <a:solidFill>
                <a:srgbClr val="4B2E8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Clr>
                <a:srgbClr val="4B2E83"/>
              </a:buClr>
              <a:buSzPts val="1600"/>
              <a:buFont typeface="Open Sans"/>
              <a:buAutoNum type="arabicPeriod"/>
            </a:pPr>
            <a:r>
              <a:rPr lang="en-US" sz="1600"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rPr>
              <a:t>Registers</a:t>
            </a:r>
            <a:endParaRPr sz="1600">
              <a:solidFill>
                <a:srgbClr val="4B2E8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Clr>
                <a:srgbClr val="4B2E83"/>
              </a:buClr>
              <a:buSzPts val="1600"/>
              <a:buFont typeface="Open Sans"/>
              <a:buAutoNum type="arabicPeriod"/>
            </a:pPr>
            <a:r>
              <a:rPr lang="en-US" sz="1600"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rPr>
              <a:t>function calls</a:t>
            </a:r>
            <a:endParaRPr sz="1600">
              <a:solidFill>
                <a:srgbClr val="4B2E8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Clr>
                <a:srgbClr val="4B2E83"/>
              </a:buClr>
              <a:buSzPts val="1600"/>
              <a:buFont typeface="Open Sans"/>
              <a:buAutoNum type="arabicPeriod"/>
            </a:pPr>
            <a:r>
              <a:rPr lang="en-US" sz="1600"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rPr>
              <a:t>APIs With the help of parallel processing</a:t>
            </a:r>
            <a:endParaRPr sz="1600">
              <a:solidFill>
                <a:srgbClr val="4B2E8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B2E8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4B2E83"/>
              </a:buClr>
              <a:buSzPts val="1600"/>
              <a:buFont typeface="Open Sans"/>
              <a:buChar char="●"/>
            </a:pPr>
            <a:r>
              <a:rPr lang="en-US" sz="1600"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rPr>
              <a:t>Previous paper using only opcodes, malware can be distinguished from benign files</a:t>
            </a:r>
            <a:endParaRPr sz="1600">
              <a:solidFill>
                <a:srgbClr val="4B2E8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B2E8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4B2E83"/>
              </a:buClr>
              <a:buSzPts val="1600"/>
              <a:buFont typeface="Open Sans"/>
              <a:buChar char="●"/>
            </a:pPr>
            <a:r>
              <a:rPr lang="en-US" sz="1600"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rPr>
              <a:t>By using a sequence length of up to four opcodes, a classification accuracy of 95.58% was achieved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99" name="Google Shape;9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47876" y="2403850"/>
            <a:ext cx="3324832" cy="233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3550225" y="4743550"/>
            <a:ext cx="41469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800"/>
              <a:t>https://www.semanticscholar.org/paper/Malware-detection-through-opcode-sequence-analysis-Bragen/62f796c19ffa2ee70fc5ee7aec0fe41fae26f191</a:t>
            </a:r>
            <a:endParaRPr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title"/>
          </p:nvPr>
        </p:nvSpPr>
        <p:spPr>
          <a:xfrm>
            <a:off x="671757" y="278633"/>
            <a:ext cx="80646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</a:pPr>
            <a:r>
              <a:rPr lang="en-US"/>
              <a:t>Data Overview: Byte Files</a:t>
            </a:r>
            <a:endParaRPr/>
          </a:p>
        </p:txBody>
      </p:sp>
      <p:sp>
        <p:nvSpPr>
          <p:cNvPr id="107" name="Google Shape;107;p16"/>
          <p:cNvSpPr txBox="1"/>
          <p:nvPr/>
        </p:nvSpPr>
        <p:spPr>
          <a:xfrm>
            <a:off x="92925" y="1315000"/>
            <a:ext cx="41106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rPr>
              <a:t>Total 10868 Files</a:t>
            </a:r>
            <a:endParaRPr sz="1600">
              <a:solidFill>
                <a:srgbClr val="4B2E8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B2E8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4B2E83"/>
              </a:buClr>
              <a:buSzPts val="1600"/>
              <a:buFont typeface="Open Sans"/>
              <a:buChar char="●"/>
            </a:pPr>
            <a:r>
              <a:rPr lang="en-US" sz="1600"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rPr>
              <a:t>Unique hex patterns (N-grams) act as a statistical signature to identify specific malware families</a:t>
            </a:r>
            <a:r>
              <a:rPr lang="en-US" sz="1600"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1600">
              <a:solidFill>
                <a:srgbClr val="4B2E8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B2E8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4B2E83"/>
              </a:buClr>
              <a:buSzPts val="1600"/>
              <a:buFont typeface="Open Sans"/>
              <a:buChar char="●"/>
            </a:pPr>
            <a:r>
              <a:rPr lang="en-US" sz="1600"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rPr>
              <a:t>Byte randomness detects obfuscation techniques, such as encryption or hidden file packing</a:t>
            </a:r>
            <a:endParaRPr sz="1600">
              <a:solidFill>
                <a:srgbClr val="4B2E8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B2E8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4B2E83"/>
              </a:buClr>
              <a:buSzPts val="1600"/>
              <a:buFont typeface="Open Sans"/>
              <a:buChar char="●"/>
            </a:pPr>
            <a:r>
              <a:rPr lang="en-US" sz="1600"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rPr>
              <a:t>Captures the entire binary, including embedded strings and URLs that code-only analysis misses</a:t>
            </a:r>
            <a:r>
              <a:rPr lang="en-US" sz="1600"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/>
          </a:p>
        </p:txBody>
      </p:sp>
      <p:pic>
        <p:nvPicPr>
          <p:cNvPr id="108" name="Google Shape;10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1550" y="1192633"/>
            <a:ext cx="4380460" cy="3816067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type="title"/>
          </p:nvPr>
        </p:nvSpPr>
        <p:spPr>
          <a:xfrm>
            <a:off x="110400" y="278625"/>
            <a:ext cx="89136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</a:pPr>
            <a:r>
              <a:rPr lang="en-US"/>
              <a:t>Feature Extraction</a:t>
            </a:r>
            <a:endParaRPr/>
          </a:p>
        </p:txBody>
      </p:sp>
      <p:sp>
        <p:nvSpPr>
          <p:cNvPr id="115" name="Google Shape;115;p17"/>
          <p:cNvSpPr txBox="1"/>
          <p:nvPr>
            <p:ph idx="1" type="body"/>
          </p:nvPr>
        </p:nvSpPr>
        <p:spPr>
          <a:xfrm>
            <a:off x="110400" y="1226525"/>
            <a:ext cx="5473500" cy="1495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Features: N-gram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Several thousands unigram in Opcodes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256 unigram in Bytes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Over millions bigram in Opcodes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65536 bigram in Bytes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16" name="Google Shape;116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7" name="Google Shape;117;p17"/>
          <p:cNvSpPr txBox="1"/>
          <p:nvPr/>
        </p:nvSpPr>
        <p:spPr>
          <a:xfrm>
            <a:off x="5424925" y="1226525"/>
            <a:ext cx="33336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erriweather Sans"/>
              <a:buChar char="●"/>
            </a:pP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Feature Extraction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Multi-Processing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CountVectorizer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SelectKBest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Chi-Squared Test</a:t>
            </a:r>
            <a:endParaRPr/>
          </a:p>
        </p:txBody>
      </p:sp>
      <p:grpSp>
        <p:nvGrpSpPr>
          <p:cNvPr id="118" name="Google Shape;118;p17"/>
          <p:cNvGrpSpPr/>
          <p:nvPr/>
        </p:nvGrpSpPr>
        <p:grpSpPr>
          <a:xfrm>
            <a:off x="74113" y="2877625"/>
            <a:ext cx="8995778" cy="612211"/>
            <a:chOff x="74113" y="2877625"/>
            <a:chExt cx="8995778" cy="612211"/>
          </a:xfrm>
        </p:grpSpPr>
        <p:sp>
          <p:nvSpPr>
            <p:cNvPr id="119" name="Google Shape;119;p17"/>
            <p:cNvSpPr/>
            <p:nvPr/>
          </p:nvSpPr>
          <p:spPr>
            <a:xfrm>
              <a:off x="74113" y="2877625"/>
              <a:ext cx="1182600" cy="612000"/>
            </a:xfrm>
            <a:prstGeom prst="rect">
              <a:avLst/>
            </a:prstGeom>
            <a:solidFill>
              <a:srgbClr val="D9D2E9"/>
            </a:solidFill>
            <a:ln cap="flat" cmpd="sng" w="78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50" lIns="75250" spcFirstLastPara="1" rIns="75250" wrap="square" tIns="7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2">
                  <a:latin typeface="Open Sans"/>
                  <a:ea typeface="Open Sans"/>
                  <a:cs typeface="Open Sans"/>
                  <a:sym typeface="Open Sans"/>
                </a:rPr>
                <a:t>Original Dataset</a:t>
              </a:r>
              <a:endParaRPr sz="1152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0" name="Google Shape;120;p17"/>
            <p:cNvSpPr/>
            <p:nvPr/>
          </p:nvSpPr>
          <p:spPr>
            <a:xfrm>
              <a:off x="1256715" y="2999123"/>
              <a:ext cx="379800" cy="3696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dk1"/>
            </a:solidFill>
            <a:ln cap="flat" cmpd="sng" w="78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50" lIns="75250" spcFirstLastPara="1" rIns="75250" wrap="square" tIns="7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52"/>
            </a:p>
          </p:txBody>
        </p:sp>
        <p:sp>
          <p:nvSpPr>
            <p:cNvPr id="121" name="Google Shape;121;p17"/>
            <p:cNvSpPr/>
            <p:nvPr/>
          </p:nvSpPr>
          <p:spPr>
            <a:xfrm>
              <a:off x="3199352" y="2877836"/>
              <a:ext cx="1182600" cy="612000"/>
            </a:xfrm>
            <a:prstGeom prst="rect">
              <a:avLst/>
            </a:prstGeom>
            <a:solidFill>
              <a:srgbClr val="D9D2E9"/>
            </a:solidFill>
            <a:ln cap="flat" cmpd="sng" w="78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50" lIns="75250" spcFirstLastPara="1" rIns="75250" wrap="square" tIns="7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2">
                  <a:latin typeface="Open Sans"/>
                  <a:ea typeface="Open Sans"/>
                  <a:cs typeface="Open Sans"/>
                  <a:sym typeface="Open Sans"/>
                </a:rPr>
                <a:t>Split </a:t>
              </a:r>
              <a:endParaRPr sz="1152"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2">
                  <a:latin typeface="Open Sans"/>
                  <a:ea typeface="Open Sans"/>
                  <a:cs typeface="Open Sans"/>
                  <a:sym typeface="Open Sans"/>
                </a:rPr>
                <a:t>Train/Test Set</a:t>
              </a:r>
              <a:endParaRPr sz="1152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2" name="Google Shape;122;p17"/>
            <p:cNvSpPr/>
            <p:nvPr/>
          </p:nvSpPr>
          <p:spPr>
            <a:xfrm>
              <a:off x="4381955" y="2999335"/>
              <a:ext cx="379800" cy="3696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dk1"/>
            </a:solidFill>
            <a:ln cap="flat" cmpd="sng" w="78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50" lIns="75250" spcFirstLastPara="1" rIns="75250" wrap="square" tIns="7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52"/>
            </a:p>
          </p:txBody>
        </p:sp>
        <p:sp>
          <p:nvSpPr>
            <p:cNvPr id="123" name="Google Shape;123;p17"/>
            <p:cNvSpPr/>
            <p:nvPr/>
          </p:nvSpPr>
          <p:spPr>
            <a:xfrm>
              <a:off x="4761998" y="2877836"/>
              <a:ext cx="1182600" cy="612000"/>
            </a:xfrm>
            <a:prstGeom prst="rect">
              <a:avLst/>
            </a:prstGeom>
            <a:solidFill>
              <a:srgbClr val="D9D2E9"/>
            </a:solidFill>
            <a:ln cap="flat" cmpd="sng" w="78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50" lIns="75250" spcFirstLastPara="1" rIns="75250" wrap="square" tIns="7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2">
                  <a:latin typeface="Open Sans"/>
                  <a:ea typeface="Open Sans"/>
                  <a:cs typeface="Open Sans"/>
                  <a:sym typeface="Open Sans"/>
                </a:rPr>
                <a:t>Chi-Squared Test</a:t>
              </a:r>
              <a:endParaRPr sz="1152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4" name="Google Shape;124;p17"/>
            <p:cNvSpPr/>
            <p:nvPr/>
          </p:nvSpPr>
          <p:spPr>
            <a:xfrm>
              <a:off x="5944601" y="2999335"/>
              <a:ext cx="379800" cy="3696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dk1"/>
            </a:solidFill>
            <a:ln cap="flat" cmpd="sng" w="78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50" lIns="75250" spcFirstLastPara="1" rIns="75250" wrap="square" tIns="7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52"/>
            </a:p>
          </p:txBody>
        </p:sp>
        <p:sp>
          <p:nvSpPr>
            <p:cNvPr id="125" name="Google Shape;125;p17"/>
            <p:cNvSpPr/>
            <p:nvPr/>
          </p:nvSpPr>
          <p:spPr>
            <a:xfrm>
              <a:off x="6324644" y="2877836"/>
              <a:ext cx="1182600" cy="612000"/>
            </a:xfrm>
            <a:prstGeom prst="rect">
              <a:avLst/>
            </a:prstGeom>
            <a:solidFill>
              <a:srgbClr val="D9D2E9"/>
            </a:solidFill>
            <a:ln cap="flat" cmpd="sng" w="78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50" lIns="75250" spcFirstLastPara="1" rIns="75250" wrap="square" tIns="7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2">
                  <a:latin typeface="Open Sans"/>
                  <a:ea typeface="Open Sans"/>
                  <a:cs typeface="Open Sans"/>
                  <a:sym typeface="Open Sans"/>
                </a:rPr>
                <a:t>SelectKBest</a:t>
              </a:r>
              <a:endParaRPr sz="1152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6" name="Google Shape;126;p17"/>
            <p:cNvSpPr/>
            <p:nvPr/>
          </p:nvSpPr>
          <p:spPr>
            <a:xfrm>
              <a:off x="7507247" y="2999335"/>
              <a:ext cx="379800" cy="3696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dk1"/>
            </a:solidFill>
            <a:ln cap="flat" cmpd="sng" w="78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50" lIns="75250" spcFirstLastPara="1" rIns="75250" wrap="square" tIns="7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52"/>
            </a:p>
          </p:txBody>
        </p:sp>
        <p:sp>
          <p:nvSpPr>
            <p:cNvPr id="127" name="Google Shape;127;p17"/>
            <p:cNvSpPr/>
            <p:nvPr/>
          </p:nvSpPr>
          <p:spPr>
            <a:xfrm>
              <a:off x="7887290" y="2877836"/>
              <a:ext cx="1182600" cy="612000"/>
            </a:xfrm>
            <a:prstGeom prst="rect">
              <a:avLst/>
            </a:prstGeom>
            <a:solidFill>
              <a:srgbClr val="D9D2E9"/>
            </a:solidFill>
            <a:ln cap="flat" cmpd="sng" w="78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50" lIns="75250" spcFirstLastPara="1" rIns="75250" wrap="square" tIns="7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2">
                  <a:latin typeface="Open Sans"/>
                  <a:ea typeface="Open Sans"/>
                  <a:cs typeface="Open Sans"/>
                  <a:sym typeface="Open Sans"/>
                </a:rPr>
                <a:t>Final Features</a:t>
              </a:r>
              <a:endParaRPr sz="1152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8" name="Google Shape;128;p17"/>
            <p:cNvSpPr/>
            <p:nvPr/>
          </p:nvSpPr>
          <p:spPr>
            <a:xfrm>
              <a:off x="1636730" y="2877625"/>
              <a:ext cx="1182600" cy="612000"/>
            </a:xfrm>
            <a:prstGeom prst="rect">
              <a:avLst/>
            </a:prstGeom>
            <a:solidFill>
              <a:srgbClr val="D9D2E9"/>
            </a:solidFill>
            <a:ln cap="flat" cmpd="sng" w="78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50" lIns="75250" spcFirstLastPara="1" rIns="75250" wrap="square" tIns="7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2">
                  <a:latin typeface="Open Sans"/>
                  <a:ea typeface="Open Sans"/>
                  <a:cs typeface="Open Sans"/>
                  <a:sym typeface="Open Sans"/>
                </a:rPr>
                <a:t>Calculate N-gram</a:t>
              </a:r>
              <a:endParaRPr sz="1152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9" name="Google Shape;129;p17"/>
            <p:cNvSpPr/>
            <p:nvPr/>
          </p:nvSpPr>
          <p:spPr>
            <a:xfrm>
              <a:off x="2819333" y="2999123"/>
              <a:ext cx="379800" cy="3696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dk1"/>
            </a:solidFill>
            <a:ln cap="flat" cmpd="sng" w="78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50" lIns="75250" spcFirstLastPara="1" rIns="75250" wrap="square" tIns="7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52"/>
            </a:p>
          </p:txBody>
        </p:sp>
      </p:grpSp>
      <p:sp>
        <p:nvSpPr>
          <p:cNvPr id="130" name="Google Shape;130;p17"/>
          <p:cNvSpPr txBox="1"/>
          <p:nvPr>
            <p:ph idx="1" type="body"/>
          </p:nvPr>
        </p:nvSpPr>
        <p:spPr>
          <a:xfrm>
            <a:off x="138450" y="3573550"/>
            <a:ext cx="5417400" cy="1569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Uni-gram of Byte files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Top 1000 Bi-gram of Byte files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Top 50 Uni-gram of Opcodes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Top 500 Bi-gram of Opcodes</a:t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 txBox="1"/>
          <p:nvPr>
            <p:ph type="title"/>
          </p:nvPr>
        </p:nvSpPr>
        <p:spPr>
          <a:xfrm>
            <a:off x="671757" y="278633"/>
            <a:ext cx="8064600" cy="744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Model Implementation</a:t>
            </a:r>
            <a:endParaRPr/>
          </a:p>
        </p:txBody>
      </p:sp>
      <p:sp>
        <p:nvSpPr>
          <p:cNvPr id="136" name="Google Shape;136;p18"/>
          <p:cNvSpPr txBox="1"/>
          <p:nvPr>
            <p:ph idx="1" type="body"/>
          </p:nvPr>
        </p:nvSpPr>
        <p:spPr>
          <a:xfrm>
            <a:off x="233450" y="1238400"/>
            <a:ext cx="8632500" cy="3743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Multi-Class Classification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Model Selection</a:t>
            </a:r>
            <a:endParaRPr sz="22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/>
              <a:t>KNN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/>
              <a:t>Random Forest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/>
              <a:t>XGBoost</a:t>
            </a:r>
            <a:endParaRPr sz="18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Metric:</a:t>
            </a:r>
            <a:endParaRPr sz="22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/>
              <a:t>Multi class log-loss (if applicable)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/>
              <a:t>Confusion matrix</a:t>
            </a:r>
            <a:endParaRPr sz="18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Challenge:</a:t>
            </a:r>
            <a:endParaRPr sz="22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/>
              <a:t>Limited Domain Expertise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/>
              <a:t>Challenges in Large Data Handling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/>
              <a:t>High Computational Cost for N-gram Analysis</a:t>
            </a:r>
            <a:endParaRPr sz="1800"/>
          </a:p>
          <a:p>
            <a:pPr indent="0" lvl="0" marL="9144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9144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137" name="Google Shape;137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9"/>
          <p:cNvSpPr txBox="1"/>
          <p:nvPr>
            <p:ph type="title"/>
          </p:nvPr>
        </p:nvSpPr>
        <p:spPr>
          <a:xfrm>
            <a:off x="671757" y="294927"/>
            <a:ext cx="80646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Model Implementation</a:t>
            </a:r>
            <a:endParaRPr/>
          </a:p>
        </p:txBody>
      </p:sp>
      <p:sp>
        <p:nvSpPr>
          <p:cNvPr id="143" name="Google Shape;143;p19"/>
          <p:cNvSpPr txBox="1"/>
          <p:nvPr>
            <p:ph idx="1" type="body"/>
          </p:nvPr>
        </p:nvSpPr>
        <p:spPr>
          <a:xfrm>
            <a:off x="598950" y="1293500"/>
            <a:ext cx="8076900" cy="30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Noise Levels for Robustness Analysis: [0, 0.1, 0.5, 1.0, 2.0, 5.0]</a:t>
            </a:r>
            <a:endParaRPr sz="1700">
              <a:solidFill>
                <a:schemeClr val="dk1"/>
              </a:solidFill>
            </a:endParaRPr>
          </a:p>
          <a:p>
            <a:pPr indent="-29845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KNN</a:t>
            </a:r>
            <a:endParaRPr sz="1700">
              <a:solidFill>
                <a:schemeClr val="dk1"/>
              </a:solidFill>
            </a:endParaRPr>
          </a:p>
          <a:p>
            <a:pPr indent="-26670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US" sz="1700">
                <a:solidFill>
                  <a:schemeClr val="dk1"/>
                </a:solidFill>
              </a:rPr>
              <a:t>K Value: 15</a:t>
            </a:r>
            <a:endParaRPr sz="1700">
              <a:solidFill>
                <a:schemeClr val="dk1"/>
              </a:solidFill>
            </a:endParaRPr>
          </a:p>
          <a:p>
            <a:pPr indent="-26670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US" sz="1700">
                <a:solidFill>
                  <a:schemeClr val="dk1"/>
                </a:solidFill>
              </a:rPr>
              <a:t>Weighting Function: Distance</a:t>
            </a:r>
            <a:endParaRPr sz="1700">
              <a:solidFill>
                <a:schemeClr val="dk1"/>
              </a:solidFill>
            </a:endParaRPr>
          </a:p>
          <a:p>
            <a:pPr indent="-29845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800">
                <a:solidFill>
                  <a:schemeClr val="dk1"/>
                </a:solidFill>
              </a:rPr>
              <a:t>Random Forest</a:t>
            </a:r>
            <a:endParaRPr sz="1800">
              <a:solidFill>
                <a:schemeClr val="dk1"/>
              </a:solidFill>
            </a:endParaRPr>
          </a:p>
          <a:p>
            <a:pPr indent="-273050" lvl="1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Forest Size: 100</a:t>
            </a:r>
            <a:endParaRPr sz="1800">
              <a:solidFill>
                <a:schemeClr val="dk1"/>
              </a:solidFill>
            </a:endParaRPr>
          </a:p>
          <a:p>
            <a:pPr indent="-3048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XGBoost</a:t>
            </a:r>
            <a:endParaRPr sz="1800">
              <a:solidFill>
                <a:schemeClr val="dk1"/>
              </a:solidFill>
            </a:endParaRPr>
          </a:p>
          <a:p>
            <a:pPr indent="-273050" lvl="1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Randomized Search</a:t>
            </a:r>
            <a:endParaRPr sz="1800">
              <a:solidFill>
                <a:schemeClr val="dk1"/>
              </a:solidFill>
            </a:endParaRPr>
          </a:p>
          <a:p>
            <a:pPr indent="-273050" lvl="1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Regularization</a:t>
            </a:r>
            <a:endParaRPr sz="1800">
              <a:solidFill>
                <a:schemeClr val="dk1"/>
              </a:solidFill>
            </a:endParaRPr>
          </a:p>
          <a:p>
            <a:pPr indent="-273050" lvl="1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Early Stop</a:t>
            </a:r>
            <a:endParaRPr sz="1800">
              <a:solidFill>
                <a:schemeClr val="dk1"/>
              </a:solidFill>
            </a:endParaRPr>
          </a:p>
          <a:p>
            <a:pPr indent="-273050" lvl="1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GPU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44" name="Google Shape;144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" name="Google Shape;145;p19"/>
          <p:cNvSpPr txBox="1"/>
          <p:nvPr/>
        </p:nvSpPr>
        <p:spPr>
          <a:xfrm>
            <a:off x="3851875" y="3179950"/>
            <a:ext cx="47049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Gamma: 0.1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Learning Rate: 0.3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Max Depth: 7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Reg Alpha (L1): 0.1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Reg Lambda (L2): 1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0"/>
          <p:cNvSpPr txBox="1"/>
          <p:nvPr>
            <p:ph type="title"/>
          </p:nvPr>
        </p:nvSpPr>
        <p:spPr>
          <a:xfrm>
            <a:off x="671757" y="294927"/>
            <a:ext cx="80646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Model </a:t>
            </a:r>
            <a:r>
              <a:rPr lang="en-US"/>
              <a:t>Result - KNN</a:t>
            </a:r>
            <a:endParaRPr/>
          </a:p>
        </p:txBody>
      </p:sp>
      <p:sp>
        <p:nvSpPr>
          <p:cNvPr id="151" name="Google Shape;151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2" name="Google Shape;15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525" y="1364775"/>
            <a:ext cx="4168577" cy="3385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3924" y="1364775"/>
            <a:ext cx="4292315" cy="338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1"/>
          <p:cNvSpPr txBox="1"/>
          <p:nvPr>
            <p:ph type="title"/>
          </p:nvPr>
        </p:nvSpPr>
        <p:spPr>
          <a:xfrm>
            <a:off x="671757" y="294927"/>
            <a:ext cx="80646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Model Result - KNN</a:t>
            </a:r>
            <a:endParaRPr/>
          </a:p>
        </p:txBody>
      </p:sp>
      <p:sp>
        <p:nvSpPr>
          <p:cNvPr id="159" name="Google Shape;159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0" name="Google Shape;16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91327"/>
            <a:ext cx="4178256" cy="3799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2624" y="1712837"/>
            <a:ext cx="4073725" cy="2756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2"/>
          <p:cNvSpPr txBox="1"/>
          <p:nvPr>
            <p:ph type="title"/>
          </p:nvPr>
        </p:nvSpPr>
        <p:spPr>
          <a:xfrm>
            <a:off x="671757" y="294927"/>
            <a:ext cx="80646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Model Result - Random Forest</a:t>
            </a:r>
            <a:endParaRPr/>
          </a:p>
        </p:txBody>
      </p:sp>
      <p:sp>
        <p:nvSpPr>
          <p:cNvPr id="167" name="Google Shape;167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8" name="Google Shape;16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6100" y="1038925"/>
            <a:ext cx="2818960" cy="211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2500" y="1148975"/>
            <a:ext cx="3771999" cy="345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28400" y="3095422"/>
            <a:ext cx="3010550" cy="1984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3"/>
          <p:cNvSpPr txBox="1"/>
          <p:nvPr>
            <p:ph type="title"/>
          </p:nvPr>
        </p:nvSpPr>
        <p:spPr>
          <a:xfrm>
            <a:off x="671757" y="294927"/>
            <a:ext cx="80646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Model Result - XGBoost</a:t>
            </a:r>
            <a:endParaRPr/>
          </a:p>
        </p:txBody>
      </p:sp>
      <p:sp>
        <p:nvSpPr>
          <p:cNvPr id="176" name="Google Shape;176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7" name="Google Shape;17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6575" y="2886650"/>
            <a:ext cx="2902850" cy="196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191327"/>
            <a:ext cx="4588199" cy="3799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96575" y="512000"/>
            <a:ext cx="3441196" cy="219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4"/>
          <p:cNvSpPr txBox="1"/>
          <p:nvPr>
            <p:ph type="title"/>
          </p:nvPr>
        </p:nvSpPr>
        <p:spPr>
          <a:xfrm>
            <a:off x="671756" y="273844"/>
            <a:ext cx="8184600" cy="74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Encode Sans Black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185" name="Google Shape;185;p24"/>
          <p:cNvSpPr txBox="1"/>
          <p:nvPr>
            <p:ph idx="2" type="body"/>
          </p:nvPr>
        </p:nvSpPr>
        <p:spPr>
          <a:xfrm>
            <a:off x="659300" y="1148964"/>
            <a:ext cx="8197200" cy="29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6550" lvl="0" marL="4572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b="0" lang="en-US" sz="1700">
                <a:solidFill>
                  <a:schemeClr val="dk1"/>
                </a:solidFill>
              </a:rPr>
              <a:t>While basic opcodes provide a </a:t>
            </a:r>
            <a:r>
              <a:rPr b="0" lang="en-US" sz="1700">
                <a:solidFill>
                  <a:schemeClr val="dk1"/>
                </a:solidFill>
              </a:rPr>
              <a:t>behavioral</a:t>
            </a:r>
            <a:r>
              <a:rPr b="0" lang="en-US" sz="1700">
                <a:solidFill>
                  <a:schemeClr val="dk1"/>
                </a:solidFill>
              </a:rPr>
              <a:t> </a:t>
            </a:r>
            <a:r>
              <a:rPr b="0" lang="en-US" sz="1700">
                <a:solidFill>
                  <a:schemeClr val="dk1"/>
                </a:solidFill>
              </a:rPr>
              <a:t>foundation</a:t>
            </a:r>
            <a:r>
              <a:rPr b="0" lang="en-US" sz="1700">
                <a:solidFill>
                  <a:schemeClr val="dk1"/>
                </a:solidFill>
              </a:rPr>
              <a:t>, byte level N-grams and </a:t>
            </a:r>
            <a:r>
              <a:rPr b="0" lang="en-US" sz="1700">
                <a:solidFill>
                  <a:schemeClr val="dk1"/>
                </a:solidFill>
              </a:rPr>
              <a:t>physical</a:t>
            </a:r>
            <a:r>
              <a:rPr b="0" lang="en-US" sz="1700">
                <a:solidFill>
                  <a:schemeClr val="dk1"/>
                </a:solidFill>
              </a:rPr>
              <a:t> </a:t>
            </a:r>
            <a:r>
              <a:rPr b="0" lang="en-US" sz="1700">
                <a:solidFill>
                  <a:schemeClr val="dk1"/>
                </a:solidFill>
              </a:rPr>
              <a:t>fickle</a:t>
            </a:r>
            <a:r>
              <a:rPr b="0" lang="en-US" sz="1700">
                <a:solidFill>
                  <a:schemeClr val="dk1"/>
                </a:solidFill>
              </a:rPr>
              <a:t> size ratios are necessary to detect </a:t>
            </a:r>
            <a:r>
              <a:rPr b="0" lang="en-US" sz="1700">
                <a:solidFill>
                  <a:schemeClr val="dk1"/>
                </a:solidFill>
              </a:rPr>
              <a:t>anomalies.</a:t>
            </a:r>
            <a:endParaRPr b="0"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b="0" lang="en-US" sz="1700">
                <a:solidFill>
                  <a:schemeClr val="dk1"/>
                </a:solidFill>
              </a:rPr>
              <a:t>Random forest and XGBoost seem to be the better models for the dataset.</a:t>
            </a:r>
            <a:endParaRPr b="0"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●"/>
            </a:pPr>
            <a:r>
              <a:rPr b="0" lang="en-US" sz="1700">
                <a:solidFill>
                  <a:schemeClr val="dk1"/>
                </a:solidFill>
              </a:rPr>
              <a:t>Extracting higher </a:t>
            </a:r>
            <a:r>
              <a:rPr b="0" lang="en-US" sz="1700">
                <a:solidFill>
                  <a:schemeClr val="dk1"/>
                </a:solidFill>
              </a:rPr>
              <a:t>dimensional context (N-grams) can introduce noise and overfitting rather than signal, especially when working with limited sample sizes.</a:t>
            </a:r>
            <a:endParaRPr b="0" sz="1700">
              <a:solidFill>
                <a:schemeClr val="dk1"/>
              </a:solidFill>
            </a:endParaRPr>
          </a:p>
        </p:txBody>
      </p:sp>
      <p:sp>
        <p:nvSpPr>
          <p:cNvPr id="186" name="Google Shape;186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5"/>
          <p:cNvSpPr txBox="1"/>
          <p:nvPr>
            <p:ph type="title"/>
          </p:nvPr>
        </p:nvSpPr>
        <p:spPr>
          <a:xfrm>
            <a:off x="671756" y="273844"/>
            <a:ext cx="8184600" cy="748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Reference</a:t>
            </a:r>
            <a:endParaRPr/>
          </a:p>
        </p:txBody>
      </p:sp>
      <p:sp>
        <p:nvSpPr>
          <p:cNvPr id="192" name="Google Shape;192;p25"/>
          <p:cNvSpPr txBox="1"/>
          <p:nvPr>
            <p:ph idx="1" type="body"/>
          </p:nvPr>
        </p:nvSpPr>
        <p:spPr>
          <a:xfrm>
            <a:off x="671750" y="1297998"/>
            <a:ext cx="8184600" cy="298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4800" lvl="0" marL="457200" rtl="0" algn="l">
              <a:spcBef>
                <a:spcPts val="48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https://www.youtube.com/watch?v=QI0qjDfMtAw&amp;list=PLxqBkZuBynVS8mDTc8ZGermXiS-32pR2y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https://github.com/rohan-paul/MachineLearning-DeepLearning-Code-for-my-YouTube-Channel/tree/master/Kaggle_Competition/Microsoft_Malware_Classification_BIG_2015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https://www.semanticscholar.org/paper/Malware-detection-through-opcode-sequence-analysis-Bragen/62f796c19ffa2ee70fc5ee7aec0fe41fae26f191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https://en.wikipedia.org/wiki/Data_segment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https://en.wikipedia.org/wiki/X86_instruction_listings</a:t>
            </a:r>
            <a:endParaRPr sz="1200"/>
          </a:p>
        </p:txBody>
      </p:sp>
      <p:sp>
        <p:nvSpPr>
          <p:cNvPr id="193" name="Google Shape;193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6"/>
          <p:cNvSpPr txBox="1"/>
          <p:nvPr>
            <p:ph type="title"/>
          </p:nvPr>
        </p:nvSpPr>
        <p:spPr>
          <a:xfrm>
            <a:off x="671756" y="273844"/>
            <a:ext cx="8184600" cy="748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Roles &amp; Contributions</a:t>
            </a:r>
            <a:endParaRPr/>
          </a:p>
        </p:txBody>
      </p:sp>
      <p:sp>
        <p:nvSpPr>
          <p:cNvPr id="199" name="Google Shape;199;p26"/>
          <p:cNvSpPr txBox="1"/>
          <p:nvPr>
            <p:ph idx="2" type="body"/>
          </p:nvPr>
        </p:nvSpPr>
        <p:spPr>
          <a:xfrm>
            <a:off x="659300" y="1247419"/>
            <a:ext cx="8197200" cy="302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94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400">
                <a:solidFill>
                  <a:schemeClr val="dk1"/>
                </a:solidFill>
              </a:rPr>
              <a:t>Po</a:t>
            </a:r>
            <a:endParaRPr sz="1400">
              <a:solidFill>
                <a:schemeClr val="dk1"/>
              </a:solidFill>
            </a:endParaRPr>
          </a:p>
          <a:p>
            <a:pPr indent="-2476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 sz="1400">
                <a:solidFill>
                  <a:schemeClr val="dk1"/>
                </a:solidFill>
              </a:rPr>
              <a:t>EDA</a:t>
            </a:r>
            <a:endParaRPr sz="1400">
              <a:solidFill>
                <a:schemeClr val="dk1"/>
              </a:solidFill>
            </a:endParaRPr>
          </a:p>
          <a:p>
            <a:pPr indent="-2476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 sz="1400">
                <a:solidFill>
                  <a:schemeClr val="dk1"/>
                </a:solidFill>
              </a:rPr>
              <a:t>Feature Extraction</a:t>
            </a:r>
            <a:endParaRPr sz="1400">
              <a:solidFill>
                <a:schemeClr val="dk1"/>
              </a:solidFill>
            </a:endParaRPr>
          </a:p>
          <a:p>
            <a:pPr indent="-2476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 sz="1400">
                <a:solidFill>
                  <a:schemeClr val="dk1"/>
                </a:solidFill>
              </a:rPr>
              <a:t>XGBoost</a:t>
            </a:r>
            <a:endParaRPr sz="1400">
              <a:solidFill>
                <a:schemeClr val="dk1"/>
              </a:solidFill>
            </a:endParaRPr>
          </a:p>
          <a:p>
            <a:pPr indent="-2794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400">
                <a:solidFill>
                  <a:schemeClr val="dk1"/>
                </a:solidFill>
              </a:rPr>
              <a:t>Bryan</a:t>
            </a:r>
            <a:endParaRPr sz="1400">
              <a:solidFill>
                <a:schemeClr val="dk1"/>
              </a:solidFill>
            </a:endParaRPr>
          </a:p>
          <a:p>
            <a:pPr indent="-2476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 sz="1400">
                <a:solidFill>
                  <a:schemeClr val="dk1"/>
                </a:solidFill>
              </a:rPr>
              <a:t>EDA</a:t>
            </a:r>
            <a:endParaRPr sz="1400">
              <a:solidFill>
                <a:schemeClr val="dk1"/>
              </a:solidFill>
            </a:endParaRPr>
          </a:p>
          <a:p>
            <a:pPr indent="-2476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 sz="1400">
                <a:solidFill>
                  <a:schemeClr val="dk1"/>
                </a:solidFill>
              </a:rPr>
              <a:t>KNN</a:t>
            </a:r>
            <a:endParaRPr sz="1400">
              <a:solidFill>
                <a:schemeClr val="dk1"/>
              </a:solidFill>
            </a:endParaRPr>
          </a:p>
          <a:p>
            <a:pPr indent="-2476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 sz="1400">
                <a:solidFill>
                  <a:schemeClr val="dk1"/>
                </a:solidFill>
              </a:rPr>
              <a:t>Random Forest</a:t>
            </a:r>
            <a:endParaRPr sz="1400">
              <a:solidFill>
                <a:schemeClr val="dk1"/>
              </a:solidFill>
            </a:endParaRPr>
          </a:p>
          <a:p>
            <a:pPr indent="-2794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400">
                <a:solidFill>
                  <a:schemeClr val="dk1"/>
                </a:solidFill>
              </a:rPr>
              <a:t>Mike</a:t>
            </a:r>
            <a:endParaRPr sz="1400">
              <a:solidFill>
                <a:schemeClr val="dk1"/>
              </a:solidFill>
            </a:endParaRPr>
          </a:p>
          <a:p>
            <a:pPr indent="-2476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 sz="1400">
                <a:solidFill>
                  <a:schemeClr val="dk1"/>
                </a:solidFill>
              </a:rPr>
              <a:t>EDA</a:t>
            </a:r>
            <a:endParaRPr sz="1400">
              <a:solidFill>
                <a:schemeClr val="dk1"/>
              </a:solidFill>
            </a:endParaRPr>
          </a:p>
          <a:p>
            <a:pPr indent="-2476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 sz="1400">
                <a:solidFill>
                  <a:schemeClr val="dk1"/>
                </a:solidFill>
              </a:rPr>
              <a:t>Final report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200" name="Google Shape;200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Custom Design">
  <a:themeElements>
    <a:clrScheme name=" 2">
      <a:dk1>
        <a:srgbClr val="4B2E83"/>
      </a:dk1>
      <a:lt1>
        <a:srgbClr val="E8D3A2"/>
      </a:lt1>
      <a:dk2>
        <a:srgbClr val="4B2E83"/>
      </a:dk2>
      <a:lt2>
        <a:srgbClr val="FFFFFF"/>
      </a:lt2>
      <a:accent1>
        <a:srgbClr val="4B2E83"/>
      </a:accent1>
      <a:accent2>
        <a:srgbClr val="E8D3A2"/>
      </a:accent2>
      <a:accent3>
        <a:srgbClr val="FFFFFF"/>
      </a:accent3>
      <a:accent4>
        <a:srgbClr val="D8D9DA"/>
      </a:accent4>
      <a:accent5>
        <a:srgbClr val="999999"/>
      </a:accent5>
      <a:accent6>
        <a:srgbClr val="917B4C"/>
      </a:accent6>
      <a:hlink>
        <a:srgbClr val="D8D9DA"/>
      </a:hlink>
      <a:folHlink>
        <a:srgbClr val="9999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Custom 8">
      <a:dk1>
        <a:srgbClr val="4B2E83"/>
      </a:dk1>
      <a:lt1>
        <a:srgbClr val="E8D3A2"/>
      </a:lt1>
      <a:dk2>
        <a:srgbClr val="4B2E83"/>
      </a:dk2>
      <a:lt2>
        <a:srgbClr val="FFFFFF"/>
      </a:lt2>
      <a:accent1>
        <a:srgbClr val="4B2E83"/>
      </a:accent1>
      <a:accent2>
        <a:srgbClr val="E8D3A2"/>
      </a:accent2>
      <a:accent3>
        <a:srgbClr val="FFFFFF"/>
      </a:accent3>
      <a:accent4>
        <a:srgbClr val="D8D9DA"/>
      </a:accent4>
      <a:accent5>
        <a:srgbClr val="999999"/>
      </a:accent5>
      <a:accent6>
        <a:srgbClr val="917B4C"/>
      </a:accent6>
      <a:hlink>
        <a:srgbClr val="D8D9DA"/>
      </a:hlink>
      <a:folHlink>
        <a:srgbClr val="9999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